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media/image22.jpg" ContentType="image/jpeg"/>
  <Override PartName="/ppt/media/image23.jpg" ContentType="image/jpeg"/>
  <Override PartName="/ppt/media/image24.jpg" ContentType="image/jpeg"/>
  <Override PartName="/ppt/media/image26.jpg" ContentType="image/jpeg"/>
  <Override PartName="/ppt/theme/themeOverride3.xml" ContentType="application/vnd.openxmlformats-officedocument.themeOverride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2"/>
  </p:notesMasterIdLst>
  <p:sldIdLst>
    <p:sldId id="256" r:id="rId2"/>
    <p:sldId id="258" r:id="rId3"/>
    <p:sldId id="262" r:id="rId4"/>
    <p:sldId id="270" r:id="rId5"/>
    <p:sldId id="274" r:id="rId6"/>
    <p:sldId id="272" r:id="rId7"/>
    <p:sldId id="278" r:id="rId8"/>
    <p:sldId id="276" r:id="rId9"/>
    <p:sldId id="280" r:id="rId10"/>
    <p:sldId id="279" r:id="rId11"/>
    <p:sldId id="282" r:id="rId12"/>
    <p:sldId id="281" r:id="rId13"/>
    <p:sldId id="284" r:id="rId14"/>
    <p:sldId id="285" r:id="rId15"/>
    <p:sldId id="273" r:id="rId16"/>
    <p:sldId id="277" r:id="rId17"/>
    <p:sldId id="286" r:id="rId18"/>
    <p:sldId id="287" r:id="rId19"/>
    <p:sldId id="300" r:id="rId20"/>
    <p:sldId id="289" r:id="rId21"/>
    <p:sldId id="301" r:id="rId22"/>
    <p:sldId id="303" r:id="rId23"/>
    <p:sldId id="302" r:id="rId24"/>
    <p:sldId id="304" r:id="rId25"/>
    <p:sldId id="319" r:id="rId26"/>
    <p:sldId id="290" r:id="rId27"/>
    <p:sldId id="291" r:id="rId28"/>
    <p:sldId id="297" r:id="rId29"/>
    <p:sldId id="298" r:id="rId30"/>
    <p:sldId id="312" r:id="rId31"/>
    <p:sldId id="313" r:id="rId32"/>
    <p:sldId id="314" r:id="rId33"/>
    <p:sldId id="316" r:id="rId34"/>
    <p:sldId id="317" r:id="rId35"/>
    <p:sldId id="318" r:id="rId36"/>
    <p:sldId id="315" r:id="rId37"/>
    <p:sldId id="292" r:id="rId38"/>
    <p:sldId id="293" r:id="rId39"/>
    <p:sldId id="299" r:id="rId40"/>
    <p:sldId id="294" r:id="rId41"/>
    <p:sldId id="295" r:id="rId42"/>
    <p:sldId id="296" r:id="rId43"/>
    <p:sldId id="305" r:id="rId44"/>
    <p:sldId id="306" r:id="rId45"/>
    <p:sldId id="307" r:id="rId46"/>
    <p:sldId id="308" r:id="rId47"/>
    <p:sldId id="310" r:id="rId48"/>
    <p:sldId id="311" r:id="rId49"/>
    <p:sldId id="309" r:id="rId50"/>
    <p:sldId id="261" r:id="rId51"/>
  </p:sldIdLst>
  <p:sldSz cx="12192000" cy="6858000"/>
  <p:notesSz cx="6858000" cy="9144000"/>
  <p:custDataLst>
    <p:tags r:id="rId5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4A4A"/>
    <a:srgbClr val="EAEC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710" autoAdjust="0"/>
  </p:normalViewPr>
  <p:slideViewPr>
    <p:cSldViewPr snapToGrid="0">
      <p:cViewPr varScale="1">
        <p:scale>
          <a:sx n="77" d="100"/>
          <a:sy n="77" d="100"/>
        </p:scale>
        <p:origin x="42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gs" Target="tags/tag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06CF4-FA77-4E71-BDBB-B62F97D48318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EA511-84E0-4AE0-9842-AB0E10994B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7EA511-84E0-4AE0-9842-AB0E10994BF1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2" name="图片 110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037350"/>
            <a:ext cx="7930836" cy="3820649"/>
          </a:xfrm>
          <a:prstGeom prst="rect">
            <a:avLst/>
          </a:prstGeom>
        </p:spPr>
      </p:pic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3079043"/>
            <a:ext cx="10850563" cy="475132"/>
          </a:xfrm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69926" y="2321170"/>
            <a:ext cx="10850562" cy="749082"/>
          </a:xfrm>
        </p:spPr>
        <p:txBody>
          <a:bodyPr anchor="ctr">
            <a:normAutofit/>
          </a:bodyPr>
          <a:lstStyle>
            <a:lvl1pPr algn="r">
              <a:defRPr sz="3600" b="1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95" y="0"/>
            <a:ext cx="11473992" cy="2693989"/>
          </a:xfrm>
          <a:prstGeom prst="rect">
            <a:avLst/>
          </a:prstGeom>
        </p:spPr>
      </p:pic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69924" y="2927838"/>
            <a:ext cx="10850564" cy="501162"/>
          </a:xfrm>
          <a:noFill/>
        </p:spPr>
        <p:txBody>
          <a:bodyPr anchor="ctr">
            <a:normAutofit/>
          </a:bodyPr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669924" y="3472000"/>
            <a:ext cx="10850564" cy="1082874"/>
          </a:xfrm>
          <a:noFill/>
        </p:spPr>
        <p:txBody>
          <a:bodyPr anchor="t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669925" y="3471306"/>
            <a:ext cx="1085056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9" name="图片 11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037350"/>
            <a:ext cx="7930836" cy="3820649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207126" y="2235084"/>
            <a:ext cx="4482645" cy="973538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结束语</a:t>
            </a:r>
          </a:p>
        </p:txBody>
      </p:sp>
      <p:sp>
        <p:nvSpPr>
          <p:cNvPr id="14" name="文本占位符 62"/>
          <p:cNvSpPr>
            <a:spLocks noGrp="1"/>
          </p:cNvSpPr>
          <p:nvPr>
            <p:ph type="body" sz="quarter" idx="17" hasCustomPrompt="1"/>
          </p:nvPr>
        </p:nvSpPr>
        <p:spPr>
          <a:xfrm>
            <a:off x="6207126" y="3486125"/>
            <a:ext cx="4482645" cy="31087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l">
              <a:buNone/>
              <a:defRPr lang="zh-CN" altLang="en-US" sz="14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公司或署名</a:t>
            </a:r>
            <a:endParaRPr lang="en-US" altLang="zh-CN" dirty="0"/>
          </a:p>
        </p:txBody>
      </p:sp>
      <p:sp>
        <p:nvSpPr>
          <p:cNvPr id="15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6207126" y="3801759"/>
            <a:ext cx="4482645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4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版权信息或网址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515100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515100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515100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669924" y="6240463"/>
            <a:ext cx="10850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669923" y="1028700"/>
            <a:ext cx="10850563" cy="72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hemeOverride" Target="../theme/themeOverride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.xml"/><Relationship Id="rId1" Type="http://schemas.openxmlformats.org/officeDocument/2006/relationships/themeOverride" Target="../theme/themeOverr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副标题 1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Web</a:t>
            </a:r>
            <a:r>
              <a:rPr lang="zh-CN" altLang="en-US" dirty="0"/>
              <a:t>工程项目展示</a:t>
            </a:r>
            <a:endParaRPr lang="en-US" altLang="zh-CN" dirty="0"/>
          </a:p>
        </p:txBody>
      </p:sp>
      <p:sp>
        <p:nvSpPr>
          <p:cNvPr id="18" name="标题 1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CN" dirty="0"/>
              <a:t>Horizon-Novel Dev Team</a:t>
            </a:r>
            <a:r>
              <a:rPr lang="zh-CN" altLang="en-US" dirty="0"/>
              <a:t>（</a:t>
            </a:r>
            <a:r>
              <a:rPr lang="en-US" altLang="zh-CN" dirty="0"/>
              <a:t>15</a:t>
            </a:r>
            <a:r>
              <a:rPr lang="zh-CN" altLang="en-US" dirty="0"/>
              <a:t>组）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3256384" y="2383326"/>
            <a:ext cx="826410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项目团队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15</a:t>
            </a:r>
            <a:r>
              <a:rPr lang="zh-CN" altLang="en-US" dirty="0"/>
              <a:t>组团队成员介绍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118290" y="5355425"/>
            <a:ext cx="795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Github</a:t>
            </a:r>
            <a:r>
              <a:rPr lang="zh-CN" altLang="en-US" b="1" dirty="0"/>
              <a:t>仓库链接</a:t>
            </a:r>
            <a:r>
              <a:rPr lang="en-US" altLang="zh-CN" b="1" dirty="0"/>
              <a:t>:https://github.com/Horizon-</a:t>
            </a:r>
            <a:r>
              <a:rPr lang="en-US" altLang="zh-CN" b="1" dirty="0" err="1"/>
              <a:t>NovelDevTeam</a:t>
            </a:r>
            <a:r>
              <a:rPr lang="en-US" altLang="zh-CN" b="1"/>
              <a:t>/</a:t>
            </a:r>
            <a:endParaRPr lang="zh-CN" altLang="en-US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062" y="2138546"/>
            <a:ext cx="6356284" cy="258090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Web</a:t>
            </a:r>
            <a:r>
              <a:rPr lang="zh-CN" altLang="en-US" dirty="0"/>
              <a:t>项目建议书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侧重业务建议，所属领域、目标、解决核心问题、带来效益等方面。</a:t>
            </a:r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Web</a:t>
            </a:r>
            <a:r>
              <a:rPr lang="zh-CN" altLang="en-US" dirty="0"/>
              <a:t>项目建议书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71195" y="2136775"/>
            <a:ext cx="1084961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1. </a:t>
            </a:r>
            <a:r>
              <a:rPr lang="zh-CN" altLang="en-US"/>
              <a:t>文档说明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开发一个用户可以线上阅读，具有充值打赏评论功能的小说网站，后台人员可以上传下架小说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随着网络的发展，电子设备的进步，传统纸质书籍花费大，不便携，成本大的缺点暴露，线上阅读的需求变大，因此一个线上小说阅读网站的存在十分必要。</a:t>
            </a:r>
          </a:p>
          <a:p>
            <a:r>
              <a:rPr lang="en-US" altLang="zh-CN"/>
              <a:t>2. </a:t>
            </a:r>
            <a:r>
              <a:rPr lang="zh-CN" altLang="en-US"/>
              <a:t>可行性分析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电子阅读飞速发展，线上小说网站有充足的市场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网络写手数量大增，不缺少优秀的原创作品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智能机普及，线上小说不缺用户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相较于纸质书籍的花费，线上阅读的成本更低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Web</a:t>
            </a:r>
            <a:r>
              <a:rPr lang="zh-CN" altLang="en-US" dirty="0"/>
              <a:t>应用建模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功能需求建模</a:t>
            </a:r>
            <a:r>
              <a:rPr lang="en-US" altLang="zh-CN" dirty="0"/>
              <a:t>——</a:t>
            </a:r>
            <a:r>
              <a:rPr lang="zh-CN" altLang="en-US" dirty="0"/>
              <a:t>静态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427" y="1125356"/>
            <a:ext cx="7175374" cy="5077735"/>
          </a:xfrm>
          <a:prstGeom prst="rect">
            <a:avLst/>
          </a:prstGeom>
        </p:spPr>
      </p:pic>
      <p:sp>
        <p:nvSpPr>
          <p:cNvPr id="6" name="文本占位符 2"/>
          <p:cNvSpPr txBox="1"/>
          <p:nvPr/>
        </p:nvSpPr>
        <p:spPr>
          <a:xfrm>
            <a:off x="669924" y="1660812"/>
            <a:ext cx="3951503" cy="13007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dirty="0"/>
              <a:t>确定用例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小说网站的用例主要包括三方面：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1.</a:t>
            </a:r>
            <a:r>
              <a:rPr lang="zh-CN" altLang="en-US" dirty="0"/>
              <a:t>用户的用例主要包括注册登录、互动、搜索以及充值。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2.</a:t>
            </a:r>
            <a:r>
              <a:rPr lang="zh-CN" altLang="en-US" dirty="0"/>
              <a:t>作家的用例除了包括用户的所有用例外，还有上传小说的用例。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3.</a:t>
            </a:r>
            <a:r>
              <a:rPr lang="zh-CN" altLang="en-US" dirty="0"/>
              <a:t>管理员的用例主要包括审核作品、管理用户以及维护。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创建用例图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如右图所示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功能需求建模</a:t>
            </a:r>
            <a:r>
              <a:rPr lang="en-US" altLang="zh-CN" dirty="0"/>
              <a:t>——</a:t>
            </a:r>
            <a:r>
              <a:rPr lang="zh-CN" altLang="en-US" dirty="0"/>
              <a:t>动态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8" name="文本占位符 2"/>
          <p:cNvSpPr txBox="1"/>
          <p:nvPr/>
        </p:nvSpPr>
        <p:spPr>
          <a:xfrm>
            <a:off x="669923" y="1445492"/>
            <a:ext cx="6415357" cy="10828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dirty="0"/>
              <a:t>活动图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为表达该小说网站复杂业务逻辑的用例从而进一步精化建模。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933" y="2321985"/>
            <a:ext cx="3876272" cy="3876272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280" y="1239111"/>
            <a:ext cx="3983815" cy="495914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内容建模</a:t>
            </a:r>
            <a:r>
              <a:rPr lang="en-US" altLang="zh-CN" dirty="0"/>
              <a:t>——</a:t>
            </a:r>
            <a:r>
              <a:rPr lang="zh-CN" altLang="en-US" dirty="0"/>
              <a:t>静态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724" y="1109598"/>
            <a:ext cx="7269763" cy="5019353"/>
          </a:xfrm>
          <a:prstGeom prst="rect">
            <a:avLst/>
          </a:prstGeom>
        </p:spPr>
      </p:pic>
      <p:sp>
        <p:nvSpPr>
          <p:cNvPr id="9" name="文本占位符 2"/>
          <p:cNvSpPr txBox="1"/>
          <p:nvPr/>
        </p:nvSpPr>
        <p:spPr>
          <a:xfrm>
            <a:off x="669924" y="1420779"/>
            <a:ext cx="3580800" cy="10828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/>
              <a:t>类图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本小说网站的主要页面有登录注册页面、小说目录及内容页面、打赏充值页面、作家页面。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业务逻辑处理类有读者类、管理员类、作家类、小说类。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内容建模</a:t>
            </a:r>
            <a:r>
              <a:rPr lang="en-US" altLang="zh-CN" dirty="0"/>
              <a:t>——</a:t>
            </a:r>
            <a:r>
              <a:rPr lang="zh-CN" altLang="en-US" dirty="0"/>
              <a:t>动态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51" y="2562040"/>
            <a:ext cx="9992497" cy="3554227"/>
          </a:xfrm>
          <a:prstGeom prst="rect">
            <a:avLst/>
          </a:prstGeom>
        </p:spPr>
      </p:pic>
      <p:sp>
        <p:nvSpPr>
          <p:cNvPr id="7" name="文本占位符 2"/>
          <p:cNvSpPr txBox="1"/>
          <p:nvPr/>
        </p:nvSpPr>
        <p:spPr>
          <a:xfrm>
            <a:off x="669924" y="1253933"/>
            <a:ext cx="8671784" cy="10828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状态图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对各个界面与类进行状态分析，绘制如下状态图反映各个状态的迁移情况。</a:t>
            </a:r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超文本建模</a:t>
            </a:r>
            <a:r>
              <a:rPr lang="en-US" altLang="zh-CN" dirty="0"/>
              <a:t>——</a:t>
            </a:r>
            <a:r>
              <a:rPr lang="zh-CN" altLang="en-US" dirty="0"/>
              <a:t>静态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24" y="2033576"/>
            <a:ext cx="10850563" cy="4012697"/>
          </a:xfrm>
          <a:prstGeom prst="rect">
            <a:avLst/>
          </a:prstGeom>
        </p:spPr>
      </p:pic>
      <p:sp>
        <p:nvSpPr>
          <p:cNvPr id="9" name="文本占位符 2"/>
          <p:cNvSpPr txBox="1"/>
          <p:nvPr/>
        </p:nvSpPr>
        <p:spPr>
          <a:xfrm>
            <a:off x="669924" y="1102655"/>
            <a:ext cx="8671784" cy="10828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超文本结构模型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以之前的内容模型为基础，表述超文本的结构。</a:t>
            </a:r>
            <a:endParaRPr lang="en-US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超文本建模</a:t>
            </a:r>
            <a:r>
              <a:rPr lang="en-US" altLang="zh-CN" dirty="0"/>
              <a:t>——</a:t>
            </a:r>
            <a:r>
              <a:rPr lang="zh-CN" altLang="en-US" dirty="0"/>
              <a:t>动态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86" y="1952368"/>
            <a:ext cx="10330249" cy="4254456"/>
          </a:xfrm>
          <a:prstGeom prst="rect">
            <a:avLst/>
          </a:prstGeom>
        </p:spPr>
      </p:pic>
      <p:sp>
        <p:nvSpPr>
          <p:cNvPr id="7" name="文本占位符 2"/>
          <p:cNvSpPr txBox="1"/>
          <p:nvPr/>
        </p:nvSpPr>
        <p:spPr>
          <a:xfrm>
            <a:off x="669924" y="1102655"/>
            <a:ext cx="8671784" cy="10828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超文本访问模型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使用访问模型中的访问元素精化超文本结构模型，主要针对用户角色。</a:t>
            </a:r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适应性建模</a:t>
            </a:r>
            <a:r>
              <a:rPr lang="en-US" altLang="zh-CN" dirty="0"/>
              <a:t>——</a:t>
            </a:r>
            <a:r>
              <a:rPr lang="zh-CN" altLang="en-US" dirty="0"/>
              <a:t>静态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21" y="2259484"/>
            <a:ext cx="10405365" cy="3848056"/>
          </a:xfrm>
          <a:prstGeom prst="rect">
            <a:avLst/>
          </a:prstGeom>
        </p:spPr>
      </p:pic>
      <p:sp>
        <p:nvSpPr>
          <p:cNvPr id="6" name="文本占位符 2"/>
          <p:cNvSpPr txBox="1"/>
          <p:nvPr/>
        </p:nvSpPr>
        <p:spPr>
          <a:xfrm>
            <a:off x="669923" y="1102655"/>
            <a:ext cx="10850563" cy="10828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不同上下文不同模型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4D4D4D"/>
                </a:solidFill>
                <a:latin typeface="-apple-system"/>
              </a:rPr>
              <a:t>要适应多种模型的变化以及可能的模型数量的增加。总而言之，系统要能做到分析并适应各种具体情况。</a:t>
            </a:r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适应性建模</a:t>
            </a:r>
            <a:r>
              <a:rPr lang="en-US" altLang="zh-CN" dirty="0"/>
              <a:t>——</a:t>
            </a:r>
            <a:r>
              <a:rPr lang="zh-CN" altLang="en-US" dirty="0"/>
              <a:t>动态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24" y="1028700"/>
            <a:ext cx="2940720" cy="5322818"/>
          </a:xfrm>
          <a:prstGeom prst="rect">
            <a:avLst/>
          </a:prstGeom>
        </p:spPr>
      </p:pic>
      <p:sp>
        <p:nvSpPr>
          <p:cNvPr id="10" name="文本占位符 2"/>
          <p:cNvSpPr txBox="1"/>
          <p:nvPr/>
        </p:nvSpPr>
        <p:spPr>
          <a:xfrm>
            <a:off x="3610644" y="1515962"/>
            <a:ext cx="7909843" cy="10828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dirty="0"/>
              <a:t>页面的动态适应模型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根据用户上下文特性，给用户提供合适的展示。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一个模型</a:t>
            </a:r>
            <a:r>
              <a:rPr lang="en-US" altLang="zh-CN" dirty="0"/>
              <a:t>+</a:t>
            </a:r>
            <a:r>
              <a:rPr lang="zh-CN" altLang="en-US" dirty="0"/>
              <a:t>适应性规则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使用系统功能和个性化方面系统地进行分离，并减少冗余。</a:t>
            </a:r>
            <a:endParaRPr lang="en-US" altLang="zh-CN" dirty="0"/>
          </a:p>
          <a:p>
            <a:pPr>
              <a:lnSpc>
                <a:spcPct val="200000"/>
              </a:lnSpc>
            </a:pPr>
            <a:endParaRPr lang="en-US" altLang="zh-CN" dirty="0"/>
          </a:p>
          <a:p>
            <a:pPr>
              <a:lnSpc>
                <a:spcPct val="200000"/>
              </a:lnSpc>
            </a:pPr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Web</a:t>
            </a:r>
            <a:r>
              <a:rPr lang="zh-CN" altLang="en-US" dirty="0"/>
              <a:t>应用架构设计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Web-</a:t>
            </a:r>
            <a:r>
              <a:rPr lang="zh-CN" altLang="en-US" dirty="0"/>
              <a:t>架构设计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83A057EB-3B42-4343-8825-EE06EEFB4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259" y="1124758"/>
            <a:ext cx="8983891" cy="497758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264CC7-B042-4E87-B041-198AD9934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Web</a:t>
            </a:r>
            <a:r>
              <a:rPr lang="zh-CN" altLang="en-US" dirty="0"/>
              <a:t>应用构建与部署以及测试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F62075-C873-4B09-9C19-4D5E1D667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FBD3DD-5645-4924-9BB4-10EC3BD4B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38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E2860-8F8F-4A1F-987A-9E2337105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5715E8C-6FA3-4A78-8838-2D892B80B7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338" y="1123950"/>
            <a:ext cx="9307737" cy="5019675"/>
          </a:xfr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32AAC3-6C73-4E66-9836-42BA6A68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913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E2860-8F8F-4A1F-987A-9E2337105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A6B176E-33CE-4EE1-ADFE-9B245E2A40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808" y="1123950"/>
            <a:ext cx="9320797" cy="5019675"/>
          </a:xfr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32AAC3-6C73-4E66-9836-42BA6A68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65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E2860-8F8F-4A1F-987A-9E2337105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C2F42FE-693A-4136-8B2A-200A752F68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080" y="1123950"/>
            <a:ext cx="9322253" cy="5019675"/>
          </a:xfr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32AAC3-6C73-4E66-9836-42BA6A68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299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165F14-B27E-40EA-B12F-15D7049B8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EA109C92-5582-4A45-8439-0702A175B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361" y="1123950"/>
            <a:ext cx="9289691" cy="5019675"/>
          </a:xfr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97A92C-661A-485A-8889-D5EE5C292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2860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71A06-3E83-4212-859A-2087EE64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7CC3CBF8-4194-43B6-8E77-C664AB7BCE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338" y="1123950"/>
            <a:ext cx="9307737" cy="5019675"/>
          </a:xfr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0CF0A3-2573-4E30-ACDE-FE9EE5C17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824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71A06-3E83-4212-859A-2087EE64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9E999CB2-1B1E-478C-82CA-2CCE163515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166" y="1123950"/>
            <a:ext cx="9312081" cy="5019675"/>
          </a:xfr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0CF0A3-2573-4E30-ACDE-FE9EE5C17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418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71A06-3E83-4212-859A-2087EE64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271004A1-897E-4FF8-A2CB-F89970E314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164" y="1123950"/>
            <a:ext cx="9336085" cy="5019675"/>
          </a:xfr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0CF0A3-2573-4E30-ACDE-FE9EE5C17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3911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71A06-3E83-4212-859A-2087EE64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0CF0A3-2573-4E30-ACDE-FE9EE5C17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A8411A9F-0328-4029-8125-D60411AB19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128" y="1123950"/>
            <a:ext cx="9366157" cy="5019675"/>
          </a:xfrm>
        </p:spPr>
      </p:pic>
    </p:spTree>
    <p:extLst>
      <p:ext uri="{BB962C8B-B14F-4D97-AF65-F5344CB8AC3E}">
        <p14:creationId xmlns:p14="http://schemas.microsoft.com/office/powerpoint/2010/main" val="16805305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264CC7-B042-4E87-B041-198AD9934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Web</a:t>
            </a:r>
            <a:r>
              <a:rPr lang="zh-CN" altLang="en-US" dirty="0"/>
              <a:t>应用运维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F62075-C873-4B09-9C19-4D5E1D667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FBD3DD-5645-4924-9BB4-10EC3BD4B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072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E2860-8F8F-4A1F-987A-9E2337105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SEO</a:t>
            </a:r>
            <a:r>
              <a:rPr lang="zh-CN" altLang="en-US" dirty="0"/>
              <a:t>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0F0F12-6E76-4B88-B2C1-7893F8C90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924" y="1376261"/>
            <a:ext cx="10850563" cy="5019675"/>
          </a:xfrm>
        </p:spPr>
        <p:txBody>
          <a:bodyPr>
            <a:normAutofit/>
          </a:bodyPr>
          <a:lstStyle/>
          <a:p>
            <a:r>
              <a:rPr lang="zh-CN" altLang="en-US" dirty="0"/>
              <a:t>放弃</a:t>
            </a:r>
            <a:r>
              <a:rPr lang="en-US" altLang="zh-CN" dirty="0"/>
              <a:t>Vue</a:t>
            </a:r>
            <a:r>
              <a:rPr lang="zh-CN" altLang="en-US" dirty="0"/>
              <a:t>等</a:t>
            </a:r>
            <a:r>
              <a:rPr lang="en-US" altLang="zh-CN" dirty="0"/>
              <a:t>SPA</a:t>
            </a:r>
            <a:r>
              <a:rPr lang="zh-CN" altLang="en-US" dirty="0"/>
              <a:t>框架，考虑到服务端渲染性能损耗，全站静态化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选用符合网站的</a:t>
            </a:r>
            <a:r>
              <a:rPr lang="en-US" altLang="zh-CN" dirty="0"/>
              <a:t>keyword</a:t>
            </a:r>
            <a:r>
              <a:rPr lang="zh-CN" altLang="en-US" dirty="0"/>
              <a:t>等</a:t>
            </a:r>
            <a:r>
              <a:rPr lang="en-US" altLang="zh-CN" dirty="0"/>
              <a:t>meta</a:t>
            </a:r>
            <a:r>
              <a:rPr lang="zh-CN" altLang="en-US" dirty="0"/>
              <a:t>源信息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与高</a:t>
            </a:r>
            <a:r>
              <a:rPr lang="en-US" altLang="zh-CN" dirty="0"/>
              <a:t>ranking</a:t>
            </a:r>
            <a:r>
              <a:rPr lang="zh-CN" altLang="en-US" dirty="0"/>
              <a:t>网站做友情链接</a:t>
            </a:r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32AAC3-6C73-4E66-9836-42BA6A68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671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E2860-8F8F-4A1F-987A-9E2337105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网站结构框架、样式表等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0F0F12-6E76-4B88-B2C1-7893F8C90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923" y="1262062"/>
            <a:ext cx="10850563" cy="5019675"/>
          </a:xfrm>
        </p:spPr>
        <p:txBody>
          <a:bodyPr/>
          <a:lstStyle/>
          <a:p>
            <a:r>
              <a:rPr lang="zh-CN" altLang="en-US" dirty="0"/>
              <a:t>网页结构框架的分析主要看网站的布局，有没有框架，代码的简洁程度。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样式表取决于它是外部样式表还是内部样式表。搜索引擎分析样式表，样式表简洁明了十分重要。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32AAC3-6C73-4E66-9836-42BA6A68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6253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E2860-8F8F-4A1F-987A-9E2337105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检查网站的列表、外链和快照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0F0F12-6E76-4B88-B2C1-7893F8C90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923" y="1262062"/>
            <a:ext cx="10850563" cy="5019675"/>
          </a:xfrm>
        </p:spPr>
        <p:txBody>
          <a:bodyPr/>
          <a:lstStyle/>
          <a:p>
            <a:r>
              <a:rPr lang="zh-CN" altLang="en-US" dirty="0"/>
              <a:t>条目的数量可以反映网站是否受到搜索引擎的欢迎，也可以判断网站内容的原创程度。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看外链可以反映出其他网站对网站的评价。另外，看外链的来源很重要。不同的来源对推广网站的权重不同。所以在构建外链的时候，不仅需要数量，更需要质量。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快照情况可以反映网站的更新情况。只有当网站内容频繁更新和原始信息时，搜索引擎友好才能吸引搜索引擎蜘蛛的爬行。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32AAC3-6C73-4E66-9836-42BA6A68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6031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7F934-0917-4DA4-A64F-AB2F0C372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Web</a:t>
            </a:r>
            <a:r>
              <a:rPr lang="zh-CN" altLang="en-US" dirty="0"/>
              <a:t>应用测试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40E28A-F363-415D-BBB4-39F814BC5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8AFD663-38C3-4F0A-82DB-70C0837C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2275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2A2D85-629D-4B7E-9E62-51288BBF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Lighthouse</a:t>
            </a:r>
            <a:r>
              <a:rPr lang="zh-CN" altLang="en-US" dirty="0"/>
              <a:t>性能测评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BAB8F679-A813-4073-93F0-A7341CC80D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060" y="1438298"/>
            <a:ext cx="8060837" cy="4273570"/>
          </a:xfr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CBEF3C-27C9-4C0C-997B-A9DEE6E33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0318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2A2D85-629D-4B7E-9E62-51288BBF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TLS</a:t>
            </a:r>
            <a:r>
              <a:rPr lang="zh-CN" altLang="en-US" dirty="0"/>
              <a:t>安全测试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CBEF3C-27C9-4C0C-997B-A9DEE6E33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13E764C4-468D-4C87-8E7B-7458A44154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956" y="1481137"/>
            <a:ext cx="7048500" cy="4305300"/>
          </a:xfrm>
        </p:spPr>
      </p:pic>
    </p:spTree>
    <p:extLst>
      <p:ext uri="{BB962C8B-B14F-4D97-AF65-F5344CB8AC3E}">
        <p14:creationId xmlns:p14="http://schemas.microsoft.com/office/powerpoint/2010/main" val="12143187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2A2D85-629D-4B7E-9E62-51288BBF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TLS</a:t>
            </a:r>
            <a:r>
              <a:rPr lang="zh-CN" altLang="en-US" dirty="0"/>
              <a:t>安全测试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CBEF3C-27C9-4C0C-997B-A9DEE6E33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DB9978C1-8016-444C-B63A-139D649767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778" y="1123950"/>
            <a:ext cx="8998857" cy="5019675"/>
          </a:xfrm>
        </p:spPr>
      </p:pic>
    </p:spTree>
    <p:extLst>
      <p:ext uri="{BB962C8B-B14F-4D97-AF65-F5344CB8AC3E}">
        <p14:creationId xmlns:p14="http://schemas.microsoft.com/office/powerpoint/2010/main" val="25703977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92E06-84FE-4AA8-A5D4-762F18850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TLS</a:t>
            </a:r>
            <a:r>
              <a:rPr lang="zh-CN" altLang="en-US" dirty="0"/>
              <a:t>安全测试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7262D890-6C3C-45DD-A1F4-79BBDA3438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067" y="1123950"/>
            <a:ext cx="8936278" cy="5019675"/>
          </a:xfr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792C4E-2103-4EF5-8F1B-75A01675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1189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92E06-84FE-4AA8-A5D4-762F18850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TLS</a:t>
            </a:r>
            <a:r>
              <a:rPr lang="zh-CN" altLang="en-US" dirty="0"/>
              <a:t>安全测试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83D6AE9-533B-49B8-A791-D7E975FBB7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944" y="2509837"/>
            <a:ext cx="10296525" cy="2247900"/>
          </a:xfr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792C4E-2103-4EF5-8F1B-75A01675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297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2A2D85-629D-4B7E-9E62-51288BBF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hey_linux_amd64</a:t>
            </a:r>
            <a:r>
              <a:rPr lang="zh-CN" altLang="en-US" dirty="0"/>
              <a:t>压力测试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CBEF3C-27C9-4C0C-997B-A9DEE6E33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E209F324-159D-48F6-A015-02975DF191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442" y="2471737"/>
            <a:ext cx="7629525" cy="1914525"/>
          </a:xfrm>
        </p:spPr>
      </p:pic>
    </p:spTree>
    <p:extLst>
      <p:ext uri="{BB962C8B-B14F-4D97-AF65-F5344CB8AC3E}">
        <p14:creationId xmlns:p14="http://schemas.microsoft.com/office/powerpoint/2010/main" val="4960630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264CC7-B042-4E87-B041-198AD9934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Web</a:t>
            </a:r>
            <a:r>
              <a:rPr lang="zh-CN" altLang="en-US" dirty="0"/>
              <a:t>应用性能和可用性分析与调优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F62075-C873-4B09-9C19-4D5E1D667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FBD3DD-5645-4924-9BB4-10EC3BD4B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4398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E2860-8F8F-4A1F-987A-9E2337105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0F0F12-6E76-4B88-B2C1-7893F8C90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924" y="1262062"/>
            <a:ext cx="10850563" cy="5019675"/>
          </a:xfrm>
        </p:spPr>
        <p:txBody>
          <a:bodyPr/>
          <a:lstStyle/>
          <a:p>
            <a:r>
              <a:rPr lang="zh-CN" altLang="en-US" dirty="0"/>
              <a:t>连接速度</a:t>
            </a:r>
            <a:endParaRPr lang="en-US" altLang="zh-CN" dirty="0"/>
          </a:p>
          <a:p>
            <a:pPr lvl="1"/>
            <a:r>
              <a:rPr lang="en-US" altLang="zh-CN" dirty="0"/>
              <a:t>Web</a:t>
            </a:r>
            <a:r>
              <a:rPr lang="zh-CN" altLang="en-US" dirty="0"/>
              <a:t>系统响应时间</a:t>
            </a:r>
            <a:endParaRPr lang="en-US" altLang="zh-CN" dirty="0"/>
          </a:p>
          <a:p>
            <a:pPr lvl="1"/>
            <a:r>
              <a:rPr lang="zh-CN" altLang="en-US" dirty="0"/>
              <a:t>超时的限制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负载均衡</a:t>
            </a:r>
            <a:endParaRPr lang="en-US" altLang="zh-CN" dirty="0"/>
          </a:p>
          <a:p>
            <a:pPr lvl="1"/>
            <a:r>
              <a:rPr lang="zh-CN" altLang="en-US" dirty="0"/>
              <a:t>全球三个数据节点（北京、洛杉矶、硅谷）负载均衡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压力测试</a:t>
            </a:r>
            <a:endParaRPr lang="en-US" altLang="zh-CN" dirty="0"/>
          </a:p>
          <a:p>
            <a:pPr lvl="1"/>
            <a:r>
              <a:rPr lang="zh-CN" altLang="en-US" dirty="0"/>
              <a:t>首页压力测试</a:t>
            </a:r>
            <a:r>
              <a:rPr lang="en-US" altLang="zh-CN" dirty="0"/>
              <a:t>QPS 2000+</a:t>
            </a:r>
          </a:p>
          <a:p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32AAC3-6C73-4E66-9836-42BA6A68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537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E2860-8F8F-4A1F-987A-9E2337105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可用性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0F0F12-6E76-4B88-B2C1-7893F8C90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导航</a:t>
            </a:r>
            <a:endParaRPr lang="en-US" altLang="zh-CN" dirty="0"/>
          </a:p>
          <a:p>
            <a:pPr lvl="1"/>
            <a:r>
              <a:rPr lang="zh-CN" altLang="en-US" dirty="0"/>
              <a:t>是否直观</a:t>
            </a:r>
            <a:endParaRPr lang="en-US" altLang="zh-CN" dirty="0"/>
          </a:p>
          <a:p>
            <a:pPr lvl="1"/>
            <a:r>
              <a:rPr lang="en-US" altLang="zh-CN" dirty="0"/>
              <a:t>Web</a:t>
            </a:r>
            <a:r>
              <a:rPr lang="zh-CN" altLang="en-US" dirty="0"/>
              <a:t>系统的主要部分是否可通过主页获取</a:t>
            </a:r>
            <a:endParaRPr lang="en-US" altLang="zh-CN" dirty="0"/>
          </a:p>
          <a:p>
            <a:pPr lvl="1"/>
            <a:r>
              <a:rPr lang="zh-CN" altLang="en-US" dirty="0"/>
              <a:t>页面结构、导航、菜单的风格是否一致</a:t>
            </a:r>
            <a:endParaRPr lang="en-US" altLang="zh-CN" dirty="0"/>
          </a:p>
          <a:p>
            <a:pPr lvl="1"/>
            <a:r>
              <a:rPr lang="zh-CN" altLang="en-US" dirty="0"/>
              <a:t>导航帮助是否准确</a:t>
            </a:r>
            <a:endParaRPr lang="en-US" altLang="zh-CN" dirty="0"/>
          </a:p>
          <a:p>
            <a:r>
              <a:rPr lang="zh-CN" altLang="en-US" dirty="0"/>
              <a:t>图形</a:t>
            </a:r>
            <a:endParaRPr lang="en-US" altLang="zh-CN" dirty="0"/>
          </a:p>
          <a:p>
            <a:pPr lvl="1"/>
            <a:r>
              <a:rPr lang="zh-CN" altLang="en-US" dirty="0"/>
              <a:t>图片、动画、边框、颜色、字体、背景、按钮等用途是否明确</a:t>
            </a:r>
            <a:endParaRPr lang="en-US" altLang="zh-CN" dirty="0"/>
          </a:p>
          <a:p>
            <a:pPr lvl="1"/>
            <a:r>
              <a:rPr lang="zh-CN" altLang="en-US" dirty="0"/>
              <a:t>风格是否一致</a:t>
            </a:r>
            <a:endParaRPr lang="en-US" altLang="zh-CN" dirty="0"/>
          </a:p>
          <a:p>
            <a:pPr lvl="1"/>
            <a:r>
              <a:rPr lang="zh-CN" altLang="en-US" dirty="0"/>
              <a:t>资源质量</a:t>
            </a:r>
            <a:endParaRPr lang="en-US" altLang="zh-CN" dirty="0"/>
          </a:p>
          <a:p>
            <a:r>
              <a:rPr lang="zh-CN" altLang="en-US" dirty="0"/>
              <a:t>内容</a:t>
            </a:r>
            <a:endParaRPr lang="en-US" altLang="zh-CN" dirty="0"/>
          </a:p>
          <a:p>
            <a:pPr lvl="1"/>
            <a:r>
              <a:rPr lang="zh-CN" altLang="en-US" dirty="0"/>
              <a:t>信息的正确性、准确性和相关性</a:t>
            </a:r>
            <a:endParaRPr lang="en-US" altLang="zh-CN" dirty="0"/>
          </a:p>
          <a:p>
            <a:r>
              <a:rPr lang="zh-CN" altLang="en-US" dirty="0"/>
              <a:t>整体界面</a:t>
            </a:r>
            <a:endParaRPr lang="en-US" altLang="zh-CN" dirty="0"/>
          </a:p>
          <a:p>
            <a:pPr lvl="1"/>
            <a:r>
              <a:rPr lang="zh-CN" altLang="en-US" dirty="0"/>
              <a:t>整体感，舒适感</a:t>
            </a:r>
            <a:endParaRPr lang="en-US" altLang="zh-CN" dirty="0"/>
          </a:p>
          <a:p>
            <a:pPr lvl="1"/>
            <a:r>
              <a:rPr lang="zh-CN" altLang="en-US"/>
              <a:t>采用调查问卷的形式获取用户反馈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32AAC3-6C73-4E66-9836-42BA6A68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9471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264CC7-B042-4E87-B041-198AD9934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Web</a:t>
            </a:r>
            <a:r>
              <a:rPr lang="zh-CN" altLang="en-US" dirty="0"/>
              <a:t>应用安全性分析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F62075-C873-4B09-9C19-4D5E1D667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FBD3DD-5645-4924-9BB4-10EC3BD4B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4191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E2860-8F8F-4A1F-987A-9E2337105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可能存在的安全性隐患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0F0F12-6E76-4B88-B2C1-7893F8C90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小说内容被爬取盗版？</a:t>
            </a:r>
            <a:endParaRPr lang="en-US" altLang="zh-CN" dirty="0"/>
          </a:p>
          <a:p>
            <a:r>
              <a:rPr lang="zh-CN" altLang="en-US" dirty="0"/>
              <a:t>用户敏感信息泄露？</a:t>
            </a:r>
            <a:endParaRPr lang="en-US" altLang="zh-CN" dirty="0"/>
          </a:p>
          <a:p>
            <a:r>
              <a:rPr lang="zh-CN" altLang="en-US" dirty="0"/>
              <a:t>数据传输的安全性？</a:t>
            </a:r>
            <a:endParaRPr lang="en-US" altLang="zh-CN" dirty="0"/>
          </a:p>
          <a:p>
            <a:r>
              <a:rPr lang="zh-CN" altLang="en-US" dirty="0"/>
              <a:t>充值打赏支付安全？</a:t>
            </a:r>
            <a:endParaRPr lang="en-US" altLang="zh-CN" dirty="0"/>
          </a:p>
          <a:p>
            <a:r>
              <a:rPr lang="zh-CN" altLang="en-US" dirty="0"/>
              <a:t>作家收益安全性保障？</a:t>
            </a:r>
            <a:endParaRPr lang="en-US" altLang="zh-CN" dirty="0"/>
          </a:p>
          <a:p>
            <a:r>
              <a:rPr lang="en-US" altLang="zh-CN" dirty="0"/>
              <a:t>… …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32AAC3-6C73-4E66-9836-42BA6A68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4631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E2860-8F8F-4A1F-987A-9E2337105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安全性防护策略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0F0F12-6E76-4B88-B2C1-7893F8C90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付费章节服务端渲染</a:t>
            </a:r>
            <a:endParaRPr lang="en-US" altLang="zh-CN" dirty="0"/>
          </a:p>
          <a:p>
            <a:r>
              <a:rPr lang="zh-CN" altLang="en-US" dirty="0"/>
              <a:t>小说文本加密传输，前端混淆</a:t>
            </a:r>
            <a:r>
              <a:rPr lang="en-US" altLang="zh-CN" dirty="0"/>
              <a:t>WASM</a:t>
            </a:r>
            <a:r>
              <a:rPr lang="zh-CN" altLang="en-US" dirty="0"/>
              <a:t>解密</a:t>
            </a:r>
            <a:endParaRPr lang="en-US" altLang="zh-CN" dirty="0"/>
          </a:p>
          <a:p>
            <a:r>
              <a:rPr lang="zh-CN" altLang="en-US" dirty="0"/>
              <a:t>域名 </a:t>
            </a:r>
            <a:r>
              <a:rPr lang="en-US" altLang="zh-CN" dirty="0"/>
              <a:t>HTTPS</a:t>
            </a:r>
            <a:r>
              <a:rPr lang="zh-CN" altLang="en-US" dirty="0"/>
              <a:t>，优先</a:t>
            </a:r>
            <a:r>
              <a:rPr lang="en-US" altLang="zh-CN" dirty="0"/>
              <a:t>HTTP2+TLS 1.2/1.3+HSTS</a:t>
            </a:r>
          </a:p>
          <a:p>
            <a:r>
              <a:rPr lang="zh-CN" altLang="en-US" dirty="0"/>
              <a:t>全链路的日志记录</a:t>
            </a:r>
            <a:endParaRPr lang="en-US" altLang="zh-CN" dirty="0"/>
          </a:p>
          <a:p>
            <a:r>
              <a:rPr lang="zh-CN" altLang="en-US" dirty="0"/>
              <a:t>内容安全政策（</a:t>
            </a:r>
            <a:r>
              <a:rPr lang="en-US" altLang="zh-CN" dirty="0"/>
              <a:t>CSP</a:t>
            </a:r>
            <a:r>
              <a:rPr lang="zh-CN" altLang="en-US" dirty="0"/>
              <a:t>）禁止非信任</a:t>
            </a:r>
            <a:r>
              <a:rPr lang="en-US" altLang="zh-CN" dirty="0" err="1"/>
              <a:t>Javascript</a:t>
            </a:r>
            <a:r>
              <a:rPr lang="zh-CN" altLang="en-US" dirty="0"/>
              <a:t>执行</a:t>
            </a:r>
            <a:endParaRPr lang="en-US" altLang="zh-CN" dirty="0"/>
          </a:p>
          <a:p>
            <a:r>
              <a:rPr lang="en-US" altLang="zh-CN" dirty="0"/>
              <a:t>CSRF Token</a:t>
            </a:r>
          </a:p>
          <a:p>
            <a:r>
              <a:rPr lang="zh-CN" altLang="en-US" dirty="0"/>
              <a:t>用户所有输入内容转义</a:t>
            </a:r>
            <a:endParaRPr lang="en-US" altLang="zh-CN" dirty="0"/>
          </a:p>
          <a:p>
            <a:r>
              <a:rPr lang="zh-CN" altLang="en-US" dirty="0"/>
              <a:t>脚本签名</a:t>
            </a:r>
            <a:endParaRPr lang="en-US" altLang="zh-CN" dirty="0"/>
          </a:p>
          <a:p>
            <a:r>
              <a:rPr lang="en-US" altLang="zh-CN" dirty="0"/>
              <a:t>ReCAPTCHA v3+</a:t>
            </a:r>
            <a:r>
              <a:rPr lang="zh-CN" altLang="en-US" dirty="0"/>
              <a:t>敏感请求算力验证码</a:t>
            </a:r>
            <a:r>
              <a:rPr lang="en-US" altLang="zh-CN" dirty="0"/>
              <a:t>+</a:t>
            </a:r>
            <a:r>
              <a:rPr lang="en-US" altLang="zh-CN" dirty="0" err="1"/>
              <a:t>Ratelimiter</a:t>
            </a:r>
            <a:endParaRPr lang="en-US" altLang="zh-CN" dirty="0"/>
          </a:p>
          <a:p>
            <a:r>
              <a:rPr lang="zh-CN" altLang="en-US" dirty="0"/>
              <a:t>用户</a:t>
            </a:r>
            <a:r>
              <a:rPr lang="en-US" altLang="zh-CN" dirty="0"/>
              <a:t>Cookie/Session</a:t>
            </a:r>
            <a:r>
              <a:rPr lang="zh-CN" altLang="en-US" dirty="0"/>
              <a:t>与</a:t>
            </a:r>
            <a:r>
              <a:rPr lang="en-US" altLang="zh-CN" dirty="0"/>
              <a:t>IP</a:t>
            </a:r>
            <a:r>
              <a:rPr lang="zh-CN" altLang="en-US" dirty="0"/>
              <a:t>绑定，</a:t>
            </a:r>
            <a:r>
              <a:rPr lang="en-US" altLang="zh-CN" dirty="0"/>
              <a:t>Cookie HTTP Only</a:t>
            </a:r>
          </a:p>
          <a:p>
            <a:r>
              <a:rPr lang="zh-CN" altLang="en-US" dirty="0"/>
              <a:t>数据库全程预编译，避免注入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32AAC3-6C73-4E66-9836-42BA6A68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42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FE4B3F1-DB0B-4E21-AFB2-7F9E22E34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591" y="1123950"/>
            <a:ext cx="1780952" cy="18285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B79734A-AE1E-4F67-AE42-40743F357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733" y="4138558"/>
            <a:ext cx="1466667" cy="9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1987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B2F902-E384-4EEC-BF16-AE8109248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实现代码示例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25CF3087-B163-4F6A-A0BF-9710ACAEA5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24" y="1147982"/>
            <a:ext cx="10544175" cy="1285875"/>
          </a:xfr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9EC6D3-2E25-446F-B567-BFD592105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0D24579-388F-44B0-A912-A28777CBCB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311" y="2433857"/>
            <a:ext cx="3975787" cy="208086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064BF4E-2497-4ED0-84E5-6B28C17101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586" y="4514725"/>
            <a:ext cx="7562850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6204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D4A2B4-0FFC-44E7-AC6B-FD344D0E4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525385A7-2519-4C2A-834E-B7FD263907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075" y="1123950"/>
            <a:ext cx="8730262" cy="5019675"/>
          </a:xfr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A44B36-5E4C-4378-AE32-3E5D95F88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46994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D4A2B4-0FFC-44E7-AC6B-FD344D0E4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A44B36-5E4C-4378-AE32-3E5D95F88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CBABFECC-F568-406D-BBA8-75DB857D8A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25" y="1256099"/>
            <a:ext cx="10850563" cy="4755377"/>
          </a:xfrm>
        </p:spPr>
      </p:pic>
    </p:spTree>
    <p:extLst>
      <p:ext uri="{BB962C8B-B14F-4D97-AF65-F5344CB8AC3E}">
        <p14:creationId xmlns:p14="http://schemas.microsoft.com/office/powerpoint/2010/main" val="15268228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A265F2E-4681-45EF-B633-F56E85B4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C3CC24-E5A2-4CE4-90F1-43A6CA8AD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46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167FFFD-C23E-4271-B47C-3E30FD4EF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381" y="1724238"/>
            <a:ext cx="4295238" cy="34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3342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4BB144-5375-4854-B728-F45C1CAA6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无密码登录（注册流程）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D6497C4-63CF-4F6A-909E-40FFEAAC9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470535-9EF6-448C-ADBF-3EC3AD686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BECE69-FA53-4C63-B352-600975457D6A}"/>
              </a:ext>
            </a:extLst>
          </p:cNvPr>
          <p:cNvSpPr txBox="1"/>
          <p:nvPr/>
        </p:nvSpPr>
        <p:spPr>
          <a:xfrm>
            <a:off x="1350499" y="1420837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客户端发送注册请求</a:t>
            </a:r>
          </a:p>
        </p:txBody>
      </p:sp>
    </p:spTree>
    <p:extLst>
      <p:ext uri="{BB962C8B-B14F-4D97-AF65-F5344CB8AC3E}">
        <p14:creationId xmlns:p14="http://schemas.microsoft.com/office/powerpoint/2010/main" val="6782532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A0944-CFD9-43AA-91A5-1CEE1FCFC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无密码登录（登录流程）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7FB502-A4D4-4C09-B32F-32DFBC12F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197353-E427-48A3-AD42-D5B7A3E20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6153C2-1681-45C4-BE78-B4CDA4B5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9001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72BFAF-DC1E-44E9-A4F9-4428248DD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服务器加固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0B19FF-1402-4E7B-84F5-97F13D867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SSH</a:t>
            </a:r>
            <a:r>
              <a:rPr lang="zh-CN" altLang="en-US" dirty="0"/>
              <a:t>非标端口</a:t>
            </a:r>
            <a:endParaRPr lang="en-US" altLang="zh-CN" dirty="0"/>
          </a:p>
          <a:p>
            <a:r>
              <a:rPr lang="zh-CN" altLang="en-US" dirty="0"/>
              <a:t>禁用密码登录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X25519</a:t>
            </a:r>
            <a:r>
              <a:rPr lang="zh-CN" altLang="en-US" dirty="0"/>
              <a:t>做密钥交换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EA8D24-1688-4D93-8EFF-333BEE180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B49248-D74A-4CAE-99FC-352FA8BC6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5649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Thanks.</a:t>
            </a:r>
            <a:br>
              <a:rPr lang="en-US" altLang="zh-CN" dirty="0"/>
            </a:br>
            <a:endParaRPr lang="zh-CN" altLang="en-US" sz="2400" b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/>
              <a:t>Less </a:t>
            </a:r>
            <a:r>
              <a:rPr lang="en-US" altLang="zh-CN"/>
              <a:t>is more.</a:t>
            </a:r>
            <a:endParaRPr lang="en-US" altLang="zh-CN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6207126" y="2127252"/>
            <a:ext cx="531336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6207126" y="4112630"/>
            <a:ext cx="531336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#2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heme/theme1.xml><?xml version="1.0" encoding="utf-8"?>
<a:theme xmlns:a="http://schemas.openxmlformats.org/drawingml/2006/main" name="主题5">
  <a:themeElements>
    <a:clrScheme name="自定义 26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698FCE"/>
      </a:accent1>
      <a:accent2>
        <a:srgbClr val="969EC2"/>
      </a:accent2>
      <a:accent3>
        <a:srgbClr val="85C2BC"/>
      </a:accent3>
      <a:accent4>
        <a:srgbClr val="FAD25F"/>
      </a:accent4>
      <a:accent5>
        <a:srgbClr val="99CAE6"/>
      </a:accent5>
      <a:accent6>
        <a:srgbClr val="8491CB"/>
      </a:accent6>
      <a:hlink>
        <a:srgbClr val="7DC8EB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6">
    <a:dk1>
      <a:srgbClr val="000000"/>
    </a:dk1>
    <a:lt1>
      <a:srgbClr val="FFFFFF"/>
    </a:lt1>
    <a:dk2>
      <a:srgbClr val="778495"/>
    </a:dk2>
    <a:lt2>
      <a:srgbClr val="F0F0F0"/>
    </a:lt2>
    <a:accent1>
      <a:srgbClr val="698FCE"/>
    </a:accent1>
    <a:accent2>
      <a:srgbClr val="969EC2"/>
    </a:accent2>
    <a:accent3>
      <a:srgbClr val="85C2BC"/>
    </a:accent3>
    <a:accent4>
      <a:srgbClr val="FAD25F"/>
    </a:accent4>
    <a:accent5>
      <a:srgbClr val="99CAE6"/>
    </a:accent5>
    <a:accent6>
      <a:srgbClr val="8491CB"/>
    </a:accent6>
    <a:hlink>
      <a:srgbClr val="7DC8EB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自定义 26">
    <a:dk1>
      <a:srgbClr val="000000"/>
    </a:dk1>
    <a:lt1>
      <a:srgbClr val="FFFFFF"/>
    </a:lt1>
    <a:dk2>
      <a:srgbClr val="778495"/>
    </a:dk2>
    <a:lt2>
      <a:srgbClr val="F0F0F0"/>
    </a:lt2>
    <a:accent1>
      <a:srgbClr val="698FCE"/>
    </a:accent1>
    <a:accent2>
      <a:srgbClr val="969EC2"/>
    </a:accent2>
    <a:accent3>
      <a:srgbClr val="85C2BC"/>
    </a:accent3>
    <a:accent4>
      <a:srgbClr val="FAD25F"/>
    </a:accent4>
    <a:accent5>
      <a:srgbClr val="99CAE6"/>
    </a:accent5>
    <a:accent6>
      <a:srgbClr val="8491CB"/>
    </a:accent6>
    <a:hlink>
      <a:srgbClr val="7DC8EB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自定义 26">
    <a:dk1>
      <a:srgbClr val="000000"/>
    </a:dk1>
    <a:lt1>
      <a:srgbClr val="FFFFFF"/>
    </a:lt1>
    <a:dk2>
      <a:srgbClr val="778495"/>
    </a:dk2>
    <a:lt2>
      <a:srgbClr val="F0F0F0"/>
    </a:lt2>
    <a:accent1>
      <a:srgbClr val="698FCE"/>
    </a:accent1>
    <a:accent2>
      <a:srgbClr val="969EC2"/>
    </a:accent2>
    <a:accent3>
      <a:srgbClr val="85C2BC"/>
    </a:accent3>
    <a:accent4>
      <a:srgbClr val="FAD25F"/>
    </a:accent4>
    <a:accent5>
      <a:srgbClr val="99CAE6"/>
    </a:accent5>
    <a:accent6>
      <a:srgbClr val="8491CB"/>
    </a:accent6>
    <a:hlink>
      <a:srgbClr val="7DC8EB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258</TotalTime>
  <Words>1060</Words>
  <Application>Microsoft Office PowerPoint</Application>
  <PresentationFormat>宽屏</PresentationFormat>
  <Paragraphs>190</Paragraphs>
  <Slides>50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4" baseType="lpstr">
      <vt:lpstr>-apple-system</vt:lpstr>
      <vt:lpstr>Arial</vt:lpstr>
      <vt:lpstr>Calibri</vt:lpstr>
      <vt:lpstr>主题5</vt:lpstr>
      <vt:lpstr>Horizon-Novel Dev Team（15组）</vt:lpstr>
      <vt:lpstr>项目团队</vt:lpstr>
      <vt:lpstr>15组团队成员介绍</vt:lpstr>
      <vt:lpstr>Web项目建议书</vt:lpstr>
      <vt:lpstr>Web项目建议书</vt:lpstr>
      <vt:lpstr>Web应用建模</vt:lpstr>
      <vt:lpstr>功能需求建模——静态</vt:lpstr>
      <vt:lpstr>功能需求建模——动态</vt:lpstr>
      <vt:lpstr>内容建模——静态</vt:lpstr>
      <vt:lpstr>内容建模——动态</vt:lpstr>
      <vt:lpstr>超文本建模——静态</vt:lpstr>
      <vt:lpstr>超文本建模——动态</vt:lpstr>
      <vt:lpstr>适应性建模——静态</vt:lpstr>
      <vt:lpstr>适应性建模——动态</vt:lpstr>
      <vt:lpstr>Web应用架构设计</vt:lpstr>
      <vt:lpstr>Web-架构设计</vt:lpstr>
      <vt:lpstr>Web应用构建与部署以及测试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Web应用运维</vt:lpstr>
      <vt:lpstr>SEO优化</vt:lpstr>
      <vt:lpstr>网站结构框架、样式表等</vt:lpstr>
      <vt:lpstr>检查网站的列表、外链和快照</vt:lpstr>
      <vt:lpstr>Web应用测试</vt:lpstr>
      <vt:lpstr>Lighthouse性能测评</vt:lpstr>
      <vt:lpstr>TLS安全测试</vt:lpstr>
      <vt:lpstr>TLS安全测试</vt:lpstr>
      <vt:lpstr>TLS安全测试</vt:lpstr>
      <vt:lpstr>TLS安全测试</vt:lpstr>
      <vt:lpstr>hey_linux_amd64压力测试</vt:lpstr>
      <vt:lpstr>Web应用性能和可用性分析与调优</vt:lpstr>
      <vt:lpstr>性能</vt:lpstr>
      <vt:lpstr>可用性</vt:lpstr>
      <vt:lpstr>Web应用安全性分析</vt:lpstr>
      <vt:lpstr>可能存在的安全性隐患</vt:lpstr>
      <vt:lpstr>安全性防护策略</vt:lpstr>
      <vt:lpstr>实现代码示例</vt:lpstr>
      <vt:lpstr>PowerPoint 演示文稿</vt:lpstr>
      <vt:lpstr>PowerPoint 演示文稿</vt:lpstr>
      <vt:lpstr>PowerPoint 演示文稿</vt:lpstr>
      <vt:lpstr>无密码登录（注册流程）</vt:lpstr>
      <vt:lpstr>无密码登录（登录流程）</vt:lpstr>
      <vt:lpstr>服务器加固</vt:lpstr>
      <vt:lpstr>Thanks. 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吕 锦阳</cp:lastModifiedBy>
  <cp:revision>106</cp:revision>
  <cp:lastPrinted>2018-02-05T16:00:00Z</cp:lastPrinted>
  <dcterms:created xsi:type="dcterms:W3CDTF">2018-02-05T16:00:00Z</dcterms:created>
  <dcterms:modified xsi:type="dcterms:W3CDTF">2021-06-09T12:31:06Z</dcterms:modified>
  <cp:category>business proposal;oral defense;training courseware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a18adb86-5929-4bf5-a1c6-bcf101f86030</vt:lpwstr>
  </property>
  <property fmtid="{D5CDD505-2E9C-101B-9397-08002B2CF9AE}" pid="3" name="ICV">
    <vt:lpwstr>40EB82AEF02640999F6F0DC55F37DA28</vt:lpwstr>
  </property>
  <property fmtid="{D5CDD505-2E9C-101B-9397-08002B2CF9AE}" pid="4" name="KSOProductBuildVer">
    <vt:lpwstr>2052-11.1.0.10356</vt:lpwstr>
  </property>
</Properties>
</file>